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27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Sistemas de Gestión de Bases de Datos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Software que permite crear, organizar, almacenar, consultar y administrar datos de forma eficiente y segura, centralizando la información para aplicaciones y usuarios.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808"/>
            <a:ext cx="42785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¿Para qué sirve un SGBD?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" y="1503834"/>
            <a:ext cx="425276" cy="42527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1620738"/>
            <a:ext cx="191319" cy="1913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2640" y="20708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Almacenar datos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42640" y="237738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Grandes volúmenes: clientes, productos, transacciones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260601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122" y="1503834"/>
            <a:ext cx="425276" cy="42527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4101" y="1620738"/>
            <a:ext cx="191319" cy="1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07122" y="20708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Consultar rápido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407122" y="237738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eficiente a la información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025083" y="1357313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1605" y="1503834"/>
            <a:ext cx="425276" cy="42527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8584" y="1620738"/>
            <a:ext cx="191319" cy="1913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71605" y="20708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Controlar acceso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71605" y="237738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Quién puede leer o modificar datos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96119" y="3119289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40" y="3265810"/>
            <a:ext cx="425276" cy="42527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42640" y="3832845"/>
            <a:ext cx="2129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Seguridad y recuperación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642640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Copias de seguridad y restauración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4642842" y="3119289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9363" y="3265810"/>
            <a:ext cx="425276" cy="425276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4789363" y="38328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Evitar duplicidades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4789363" y="413935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Integridad y coherencia de datos</a:t>
            </a:r>
            <a:endParaRPr lang="en-US" sz="11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20E140D-5FBB-4679-97B7-222E9F46093B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80107"/>
            <a:ext cx="533995" cy="212824"/>
          </a:xfrm>
          <a:prstGeom prst="roundRect">
            <a:avLst>
              <a:gd name="adj" fmla="val 18885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16954" y="415975"/>
            <a:ext cx="390525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33264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MySQL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45219" y="1158404"/>
            <a:ext cx="82534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Uno de los SGBD relacionales más populares, ideal para aplicaciones web y sistemas pequeños a medianos.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1614711"/>
            <a:ext cx="5262563" cy="2982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4396" y="1561728"/>
            <a:ext cx="2698998" cy="1155129"/>
          </a:xfrm>
          <a:prstGeom prst="roundRect">
            <a:avLst>
              <a:gd name="adj" fmla="val 59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109" y="1561728"/>
            <a:ext cx="57150" cy="11551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1130" y="169559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181130" y="1983358"/>
            <a:ext cx="2388394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Fácil de aprender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Rápido en lecturas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Muy extendido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04396" y="2817763"/>
            <a:ext cx="2698998" cy="908224"/>
          </a:xfrm>
          <a:prstGeom prst="roundRect">
            <a:avLst>
              <a:gd name="adj" fmla="val 755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109" y="2817763"/>
            <a:ext cx="57150" cy="9082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1130" y="295163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181130" y="3239393"/>
            <a:ext cx="238839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Menos potente que PostgreSQL en consultas complejas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004396" y="3839468"/>
            <a:ext cx="2698998" cy="810369"/>
          </a:xfrm>
          <a:prstGeom prst="roundRect">
            <a:avLst>
              <a:gd name="adj" fmla="val 6200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980" y="4012778"/>
            <a:ext cx="149498" cy="1195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93061" y="3970213"/>
            <a:ext cx="219075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 típico:</a:t>
            </a: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Aplicaciones web (WordPress, tiendas online), sistemas pequeños a medianos</a:t>
            </a:r>
            <a:endParaRPr lang="en-US" sz="9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634EBA5-F58C-4790-9B73-6BF34426A481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77503"/>
            <a:ext cx="579983" cy="228451"/>
          </a:xfrm>
          <a:prstGeom prst="roundRect">
            <a:avLst>
              <a:gd name="adj" fmla="val 18570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17624" y="415379"/>
            <a:ext cx="42847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50900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Oracle Database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1871" y="1214065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 relacional empresarial muy robusto, diseñado para bancos, grandes empresas y sistemas críticos.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1871" y="1691878"/>
            <a:ext cx="2690813" cy="1202829"/>
          </a:xfrm>
          <a:prstGeom prst="roundRect">
            <a:avLst>
              <a:gd name="adj" fmla="val 570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3" y="1691878"/>
            <a:ext cx="57150" cy="12028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5227" y="183237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5227" y="2142083"/>
            <a:ext cx="2366963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Altísimo rendimiento y seguridad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Soporta enormes volúmenes de datos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1871" y="3007147"/>
            <a:ext cx="2690813" cy="781645"/>
          </a:xfrm>
          <a:prstGeom prst="roundRect">
            <a:avLst>
              <a:gd name="adj" fmla="val 877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83" y="3007147"/>
            <a:ext cx="57150" cy="7816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227" y="314764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5227" y="3457352"/>
            <a:ext cx="2366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Costoso y complejo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1871" y="3915296"/>
            <a:ext cx="2690813" cy="690190"/>
          </a:xfrm>
          <a:prstGeom prst="roundRect">
            <a:avLst>
              <a:gd name="adj" fmla="val 7683"/>
            </a:avLst>
          </a:prstGeom>
          <a:solidFill>
            <a:srgbClr val="B6D6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7" y="4100736"/>
            <a:ext cx="157758" cy="1262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2041" y="4059287"/>
            <a:ext cx="21544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 típico:</a:t>
            </a: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Bancos, grandes empresas, sistemas críticos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520" y="1658020"/>
            <a:ext cx="5261297" cy="298139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6BFA212B-95B2-4AAD-AF1B-BE35DC8EE3DC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840804"/>
            <a:ext cx="654323" cy="266402"/>
          </a:xfrm>
          <a:prstGeom prst="roundRect">
            <a:avLst>
              <a:gd name="adj" fmla="val 17880"/>
            </a:avLst>
          </a:prstGeom>
          <a:solidFill>
            <a:srgbClr val="E2E3E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883295"/>
            <a:ext cx="4842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1639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PostgreSQL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8194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Relacional avanzado y de código abierto, ideal para aplicaciones complejas que requieren lógica avanzada.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432596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0881" y="2437358"/>
            <a:ext cx="2356619" cy="1043657"/>
          </a:xfrm>
          <a:prstGeom prst="roundRect">
            <a:avLst>
              <a:gd name="adj" fmla="val 5705"/>
            </a:avLst>
          </a:prstGeom>
          <a:solidFill>
            <a:srgbClr val="E2E3E9"/>
          </a:solidFill>
          <a:ln/>
        </p:spPr>
      </p:sp>
      <p:sp>
        <p:nvSpPr>
          <p:cNvPr id="9" name="Text 6"/>
          <p:cNvSpPr/>
          <p:nvPr/>
        </p:nvSpPr>
        <p:spPr>
          <a:xfrm>
            <a:off x="642640" y="25791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Muy potente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2885629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Funciones, tipos de datos y extensiones avanzadas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437358"/>
            <a:ext cx="2356619" cy="1043657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437358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</p:sp>
      <p:sp>
        <p:nvSpPr>
          <p:cNvPr id="13" name="Text 10"/>
          <p:cNvSpPr/>
          <p:nvPr/>
        </p:nvSpPr>
        <p:spPr>
          <a:xfrm>
            <a:off x="2999259" y="25791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Integridad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99259" y="2885629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Excelente integridad de datos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0881" y="3481015"/>
            <a:ext cx="4713238" cy="816843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16" name="Shape 13"/>
          <p:cNvSpPr/>
          <p:nvPr/>
        </p:nvSpPr>
        <p:spPr>
          <a:xfrm>
            <a:off x="500881" y="3481015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</p:sp>
      <p:sp>
        <p:nvSpPr>
          <p:cNvPr id="17" name="Text 14"/>
          <p:cNvSpPr/>
          <p:nvPr/>
        </p:nvSpPr>
        <p:spPr>
          <a:xfrm>
            <a:off x="642640" y="3622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2640" y="392928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Puede ser más complejo que MySQL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33524"/>
            <a:ext cx="501997" cy="187672"/>
          </a:xfrm>
          <a:prstGeom prst="roundRect">
            <a:avLst>
              <a:gd name="adj" fmla="val 19433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6043"/>
            <a:ext cx="371773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#4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4385"/>
            <a:ext cx="273568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Microsoft SQL Server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11672"/>
            <a:ext cx="4775299" cy="2705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2234729"/>
            <a:ext cx="2449116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relacional de Microsoft, orientado a empresas que usan tecnología Microsoft y sistemas corporativos.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27336" y="4004593"/>
            <a:ext cx="3703067" cy="805309"/>
          </a:xfrm>
          <a:prstGeom prst="roundRect">
            <a:avLst>
              <a:gd name="adj" fmla="val 566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119" y="4127376"/>
            <a:ext cx="135671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50119" y="4351511"/>
            <a:ext cx="3457501" cy="33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Integración con .NET</a:t>
            </a:r>
            <a:endParaRPr lang="en-US" sz="8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Buenas herramientas gráficas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13449" y="4004593"/>
            <a:ext cx="3703141" cy="805309"/>
          </a:xfrm>
          <a:prstGeom prst="roundRect">
            <a:avLst>
              <a:gd name="adj" fmla="val 566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232" y="4127376"/>
            <a:ext cx="135671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36232" y="4351511"/>
            <a:ext cx="345757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Licencia costosa (aunque hay versión gratuita)</a:t>
            </a:r>
            <a:endParaRPr lang="en-US" sz="8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F5B4E6C-EF63-4437-B683-FCC0321D2579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77503"/>
            <a:ext cx="580579" cy="228451"/>
          </a:xfrm>
          <a:prstGeom prst="roundRect">
            <a:avLst>
              <a:gd name="adj" fmla="val 18570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17624" y="415379"/>
            <a:ext cx="429071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50900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MongoDB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1871" y="1214065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Base de datos </a:t>
            </a:r>
            <a:r>
              <a:rPr lang="en-US" sz="9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NoSQL</a:t>
            </a: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orientada a documentos JSON, ideal para apps modernas con datos no estructurados o cambiantes.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1871" y="1691878"/>
            <a:ext cx="2690813" cy="1011882"/>
          </a:xfrm>
          <a:prstGeom prst="roundRect">
            <a:avLst>
              <a:gd name="adj" fmla="val 677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3" y="1691878"/>
            <a:ext cx="57150" cy="10118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5227" y="183237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5227" y="2142083"/>
            <a:ext cx="2366963" cy="42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Muy flexible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Escala fácilmente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1871" y="2816200"/>
            <a:ext cx="2690813" cy="972592"/>
          </a:xfrm>
          <a:prstGeom prst="roundRect">
            <a:avLst>
              <a:gd name="adj" fmla="val 705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83" y="2816200"/>
            <a:ext cx="57150" cy="972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227" y="295669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5227" y="3266405"/>
            <a:ext cx="23669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usa SQL; menor consistencia en algunos casos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1871" y="3915296"/>
            <a:ext cx="2690813" cy="690190"/>
          </a:xfrm>
          <a:prstGeom prst="roundRect">
            <a:avLst>
              <a:gd name="adj" fmla="val 7683"/>
            </a:avLst>
          </a:prstGeom>
          <a:solidFill>
            <a:srgbClr val="B6D6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7" y="4100736"/>
            <a:ext cx="157758" cy="1262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2041" y="4059287"/>
            <a:ext cx="21544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 típico:</a:t>
            </a: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Apps modernas (Node.js, APIs), datos no estructurados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520" y="1658020"/>
            <a:ext cx="5261297" cy="298139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4A69AE40-5DAF-41C0-92AF-9D9C41A04582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383977"/>
            <a:ext cx="647626" cy="260821"/>
          </a:xfrm>
          <a:prstGeom prst="roundRect">
            <a:avLst>
              <a:gd name="adj" fmla="val 17978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425797"/>
            <a:ext cx="4801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699715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MariaDB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580257"/>
            <a:ext cx="5189562" cy="29406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3074" y="1465436"/>
            <a:ext cx="263723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Versión mejorada de MySQL, utilizada como reemplazo en aplicaciones web. 100% open source.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23074" y="2284288"/>
            <a:ext cx="2637234" cy="1091654"/>
          </a:xfrm>
          <a:prstGeom prst="roundRect">
            <a:avLst>
              <a:gd name="adj" fmla="val 53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67363" y="2428577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67363" y="2788741"/>
            <a:ext cx="23486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Más rápido en algunos casos; 100% open source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23074" y="3513311"/>
            <a:ext cx="2637234" cy="1091654"/>
          </a:xfrm>
          <a:prstGeom prst="roundRect">
            <a:avLst>
              <a:gd name="adj" fmla="val 53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67363" y="3657600"/>
            <a:ext cx="174434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67363" y="4017764"/>
            <a:ext cx="23486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Menor adopción que MySQL, aunque creciente</a:t>
            </a:r>
            <a:endParaRPr lang="en-US" sz="10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F654366-85AF-45B2-B7B7-FEC84B7BDB4E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77503"/>
            <a:ext cx="574030" cy="228451"/>
          </a:xfrm>
          <a:prstGeom prst="roundRect">
            <a:avLst>
              <a:gd name="adj" fmla="val 18570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17624" y="415379"/>
            <a:ext cx="422523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SGBD #7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50900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SQLite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1871" y="1214065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Base de datos </a:t>
            </a:r>
            <a:r>
              <a:rPr lang="en-US" sz="9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ligera sin servidor</a:t>
            </a: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ideal para apps móviles, aplicaciones pequeñas y prototipos.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1871" y="1691878"/>
            <a:ext cx="2690813" cy="1011882"/>
          </a:xfrm>
          <a:prstGeom prst="roundRect">
            <a:avLst>
              <a:gd name="adj" fmla="val 677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3" y="1691878"/>
            <a:ext cx="57150" cy="10118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5227" y="183237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Ventajas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5227" y="2142083"/>
            <a:ext cx="2366963" cy="42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Muy simple: un archivo local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necesita instalación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1871" y="2816200"/>
            <a:ext cx="2690813" cy="972592"/>
          </a:xfrm>
          <a:prstGeom prst="roundRect">
            <a:avLst>
              <a:gd name="adj" fmla="val 705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9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83" y="2816200"/>
            <a:ext cx="57150" cy="972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227" y="295669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</a:t>
            </a: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Limitación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5227" y="3266405"/>
            <a:ext cx="23669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sirve para sistemas grandes o multiusuario intensivo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1871" y="3915296"/>
            <a:ext cx="2690813" cy="690190"/>
          </a:xfrm>
          <a:prstGeom prst="roundRect">
            <a:avLst>
              <a:gd name="adj" fmla="val 7683"/>
            </a:avLst>
          </a:prstGeom>
          <a:solidFill>
            <a:srgbClr val="B6D6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7" y="4100736"/>
            <a:ext cx="157758" cy="1262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2041" y="4059287"/>
            <a:ext cx="21544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 típico:</a:t>
            </a: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Apps móviles, aplicaciones pequeñas, prototipos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520" y="1658020"/>
            <a:ext cx="5261297" cy="298139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8C338631-5225-4E06-AF82-4F2CBAEBA83D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03951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Resumen Comparativo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03998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¿Cómo elegir?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306464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elección depende del tipo de proyecto, el presupuesto y la complejidad de los datos.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712169"/>
            <a:ext cx="3759622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sencilla:</a:t>
            </a: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MySQL o MariaDB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Empresa crítica:</a:t>
            </a: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Oracle o SQL Server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Alta complejidad:</a:t>
            </a: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PostgreSQL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Datos flexibles:</a:t>
            </a: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MongoDB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Móvil / prototipo:</a:t>
            </a: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SQLite</a:t>
            </a:r>
            <a:endParaRPr lang="en-US" sz="8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393ADB-7B8A-4D1A-89F7-228022A4C077}"/>
              </a:ext>
            </a:extLst>
          </p:cNvPr>
          <p:cNvSpPr/>
          <p:nvPr/>
        </p:nvSpPr>
        <p:spPr>
          <a:xfrm>
            <a:off x="8026400" y="4800600"/>
            <a:ext cx="1117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479</Words>
  <Application>Microsoft Office PowerPoint</Application>
  <PresentationFormat>Presentación en pantalla (16:9)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Calibri</vt:lpstr>
      <vt:lpstr>Arial</vt:lpstr>
      <vt:lpstr>Instrument Sans Semi Bold</vt:lpstr>
      <vt:lpstr>Instrument Sans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APRENDIZ</cp:lastModifiedBy>
  <cp:revision>2</cp:revision>
  <dcterms:created xsi:type="dcterms:W3CDTF">2026-05-05T14:37:00Z</dcterms:created>
  <dcterms:modified xsi:type="dcterms:W3CDTF">2026-05-05T15:13:18Z</dcterms:modified>
</cp:coreProperties>
</file>